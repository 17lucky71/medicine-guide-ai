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2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28ee4343-237b-6bbf-bd43-c154f0555cd5}">
          <p14:sldIdLst>
            <p14:sldId id="256"/>
            <p14:sldId id="257"/>
          </p14:sldIdLst>
        </p14:section>
        <p14:section name="프로젝트 소개" id="{f5e16dbc-c7ef-ac96-92c4-33ec2ae8ad2f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기술과 설계" id="{d28b0a6b-7624-6874-6d26-6688429e56da}">
          <p14:sldIdLst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도전과 해결" id="{2a6a88f7-8e94-5d87-4b53-c8950e0a9df7}">
          <p14:sldIdLst>
            <p14:sldId id="272"/>
            <p14:sldId id="273"/>
            <p14:sldId id="274"/>
          </p14:sldIdLst>
        </p14:section>
        <p14:section name="구현과 성과" id="{da009092-20aa-e770-575f-23c197b52469}">
          <p14:sldIdLst>
            <p14:sldId id="275"/>
            <p14:sldId id="276"/>
            <p14:sldId id="277"/>
            <p14:sldId id="278"/>
          </p14:sldIdLst>
        </p14:section>
        <p14:section name="한계 · 회고 · 마무리" id="{4c36d76f-59c8-1ae0-1261-b1582223fbe5}">
          <p14:sldIdLst>
            <p14:sldId id="279"/>
            <p14:sldId id="280"/>
            <p14:sldId id="281"/>
            <p14:sldId id="282"/>
            <p14:sldId id="283"/>
            <p14:sldId id="284"/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1F2933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1F2933"/>
                </a:solidFill>
                <a:latin typeface="+mn-lt"/>
              </a:rPr>
              <a:t>기여 비율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기여 비율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F29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최영진</c:v>
                  </c:pt>
                  <c:pt idx="1">
                    <c:v>장보윤</c:v>
                  </c:pt>
                  <c:pt idx="2">
                    <c:v>이채리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40</c:v>
                </c:pt>
                <c:pt idx="1">
                  <c:v>35</c:v>
                </c:pt>
                <c:pt idx="2">
                  <c:v>25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600" u="none">
                  <a:solidFill>
                    <a:srgbClr val="1F29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1F29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인식률</c:v>
                </c:pt>
              </c:strCache>
            </c:strRef>
          </c:tx>
          <c:spPr>
            <a:solidFill>
              <a:srgbClr val="9CA3AF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800" u="none">
                    <a:solidFill>
                      <a:srgbClr val="1F29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CA3A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F766E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전처리 전</c:v>
                  </c:pt>
                  <c:pt idx="1">
                    <c:v>전처리 후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52</c:v>
                </c:pt>
                <c:pt idx="1">
                  <c:v>87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800" u="none">
                  <a:solidFill>
                    <a:srgbClr val="1F29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F29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1463040"/>
            <a:ext cx="3566160" cy="35661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98280" y="2606040"/>
            <a:ext cx="1280160" cy="12801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6459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chemeClr val="bg1"/>
                </a:solidFill>
              </a:rPr>
              <a:t>medicine-guide-ai</a:t>
            </a:r>
            <a:endParaRPr lang="en-US" sz="5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65176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chemeClr val="bg1"/>
                </a:solidFill>
              </a:rPr>
              <a:t>AI 기반 약봉투 OCR 복약 안내 서비스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47472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기술로 건강을, AI로 안심을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56692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최영진 · 장보윤 · 이채리   |   코디세이 팀 프로젝트   |   2026.10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목차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1091672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1463040"/>
            <a:ext cx="399300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프로젝트 소개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5593202" y="1463040"/>
            <a:ext cx="581851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3–10p · 개요 · 핵심 기능 · 개발 배경 · 팀원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377440"/>
            <a:ext cx="11091672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5146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377440"/>
            <a:ext cx="399300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기술과 설계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5593202" y="2377440"/>
            <a:ext cx="581851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11–16p · 기술 스택 · 서비스 흐름 · 구조 · 주요 화면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291840"/>
            <a:ext cx="11091672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34290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3291840"/>
            <a:ext cx="399300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도전과 해결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5593202" y="3291840"/>
            <a:ext cx="581851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17–19p · OCR 인식률 · GPT 응답 파싱 · 노인 친화 UI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548640" y="4206240"/>
            <a:ext cx="11091672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77240" y="43434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4206240"/>
            <a:ext cx="399300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구현과 성과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5593202" y="4206240"/>
            <a:ext cx="581851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20–23p · API · 테스트 · 타임라인 · 성과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548640" y="5120640"/>
            <a:ext cx="11091672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52578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508760" y="5120640"/>
            <a:ext cx="399300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한계 · 회고 · 마무리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5593202" y="5120640"/>
            <a:ext cx="581851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24–30p · 한계점 · 개선 방향 · 로드맵 · 회고 · 주의사항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프로젝트 개요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120640" cy="4480560"/>
          </a:xfrm>
          <a:prstGeom prst="roundRect">
            <a:avLst>
              <a:gd name="adj" fmla="val 2449"/>
            </a:avLst>
          </a:prstGeom>
          <a:solidFill>
            <a:schemeClr val="tx2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783080"/>
            <a:ext cx="731520" cy="731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68680" y="2743200"/>
            <a:ext cx="44805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약봉투 사진 한 장으로 약 이름과 복용법을 자동 인식하고, 어르신도 쉽게 이해할 수 있는 말로 복약 안내를 제공합니다.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5943600" y="1463040"/>
            <a:ext cx="5696712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217920" y="1463040"/>
            <a:ext cx="1463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프로젝트명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680960" y="1463040"/>
            <a:ext cx="3840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medicine-guide-ai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943600" y="2377440"/>
            <a:ext cx="5696712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217920" y="2377440"/>
            <a:ext cx="1463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개발 기간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680960" y="2377440"/>
            <a:ext cx="3840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2026.10.05 ~ 2026.10.26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943600" y="3291840"/>
            <a:ext cx="5696712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217920" y="3291840"/>
            <a:ext cx="1463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개발 인원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7680960" y="3291840"/>
            <a:ext cx="3840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3인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943600" y="4206240"/>
            <a:ext cx="5696712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217920" y="4206240"/>
            <a:ext cx="1463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주요 대상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7680960" y="4206240"/>
            <a:ext cx="3840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약 복용법을 이해하기 어려운 어르신 및 보호자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5943600" y="5120640"/>
            <a:ext cx="5696712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217920" y="5120640"/>
            <a:ext cx="1463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배포 주소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7680960" y="5120640"/>
            <a:ext cx="3840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추후 추가 예정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핵심 기능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14344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69164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1840230"/>
            <a:ext cx="297180" cy="2971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377440"/>
            <a:ext cx="29657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약봉투 OCR 인식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926080"/>
            <a:ext cx="2965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사진 한 장으로 약 이름·복용법 자동 추출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337304" y="1463040"/>
            <a:ext cx="3514344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4611624" y="169164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0214" y="1840230"/>
            <a:ext cx="297180" cy="2971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11624" y="2377440"/>
            <a:ext cx="29657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약물 상호작용 분석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11624" y="2926080"/>
            <a:ext cx="2965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기존 복용 약과 새 약의 위험 조합 감지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8125968" y="1463040"/>
            <a:ext cx="3514344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14" name="Shape 10"/>
          <p:cNvSpPr/>
          <p:nvPr/>
        </p:nvSpPr>
        <p:spPr>
          <a:xfrm>
            <a:off x="8400288" y="169164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8878" y="1840230"/>
            <a:ext cx="297180" cy="2971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00288" y="2377440"/>
            <a:ext cx="29657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AI 복약 안내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400288" y="2926080"/>
            <a:ext cx="2965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GPT-4o가 쉬운 말로 복약 방법 설명</a:t>
            </a:r>
            <a:endParaRPr lang="en-US" sz="1600" dirty="0"/>
          </a:p>
        </p:txBody>
      </p:sp>
      <p:sp>
        <p:nvSpPr>
          <p:cNvPr id="18" name="Shape 13"/>
          <p:cNvSpPr/>
          <p:nvPr/>
        </p:nvSpPr>
        <p:spPr>
          <a:xfrm>
            <a:off x="548640" y="3840480"/>
            <a:ext cx="3514344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19" name="Shape 14"/>
          <p:cNvSpPr/>
          <p:nvPr/>
        </p:nvSpPr>
        <p:spPr>
          <a:xfrm>
            <a:off x="822960" y="406908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550" y="4217670"/>
            <a:ext cx="297180" cy="29718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22960" y="4754880"/>
            <a:ext cx="29657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노인 친화적 UI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5303520"/>
            <a:ext cx="2965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큰 글자·고대비 색상·단순한 화면 구성</a:t>
            </a:r>
            <a:endParaRPr lang="en-US" sz="1600" dirty="0"/>
          </a:p>
        </p:txBody>
      </p:sp>
      <p:sp>
        <p:nvSpPr>
          <p:cNvPr id="23" name="Shape 17"/>
          <p:cNvSpPr/>
          <p:nvPr/>
        </p:nvSpPr>
        <p:spPr>
          <a:xfrm>
            <a:off x="4337304" y="3840480"/>
            <a:ext cx="3514344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24" name="Shape 18"/>
          <p:cNvSpPr/>
          <p:nvPr/>
        </p:nvSpPr>
        <p:spPr>
          <a:xfrm>
            <a:off x="4611624" y="406908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0214" y="4217670"/>
            <a:ext cx="297180" cy="2971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611624" y="4754880"/>
            <a:ext cx="29657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가족 공유</a:t>
            </a:r>
            <a:endParaRPr lang="en-US" sz="2000" dirty="0"/>
          </a:p>
        </p:txBody>
      </p:sp>
      <p:sp>
        <p:nvSpPr>
          <p:cNvPr id="27" name="Text 20"/>
          <p:cNvSpPr txBox="1"/>
          <p:nvPr/>
        </p:nvSpPr>
        <p:spPr>
          <a:xfrm>
            <a:off x="4611624" y="5303520"/>
            <a:ext cx="2965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복약 정보를 가족·보호자에게 간편 공유</a:t>
            </a:r>
            <a:endParaRPr lang="en-US" sz="1600" dirty="0"/>
          </a:p>
        </p:txBody>
      </p:sp>
      <p:sp>
        <p:nvSpPr>
          <p:cNvPr id="28" name="Shape 21"/>
          <p:cNvSpPr/>
          <p:nvPr/>
        </p:nvSpPr>
        <p:spPr>
          <a:xfrm>
            <a:off x="8125968" y="3840480"/>
            <a:ext cx="3514344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29" name="Shape 22"/>
          <p:cNvSpPr/>
          <p:nvPr/>
        </p:nvSpPr>
        <p:spPr>
          <a:xfrm>
            <a:off x="8400288" y="406908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48878" y="4217670"/>
            <a:ext cx="297180" cy="29718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400288" y="4754880"/>
            <a:ext cx="29657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복용 기록 관리</a:t>
            </a:r>
            <a:endParaRPr lang="en-US" sz="2000" dirty="0"/>
          </a:p>
        </p:txBody>
      </p:sp>
      <p:sp>
        <p:nvSpPr>
          <p:cNvPr id="32" name="Text 24"/>
          <p:cNvSpPr txBox="1"/>
          <p:nvPr/>
        </p:nvSpPr>
        <p:spPr>
          <a:xfrm>
            <a:off x="8400288" y="5303520"/>
            <a:ext cx="2965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복약 이력 저장 및 조회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개발 배경 — 문제 인식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1091672" cy="246888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783080"/>
            <a:ext cx="640080" cy="6400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828800" y="1645920"/>
            <a:ext cx="9418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어머니가 약을 드시는데, 봉투에 적힌 글씨가 너무 작고 어려워서 제대로 드시는지 걱정돼요.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4206240"/>
            <a:ext cx="5394960" cy="1737360"/>
          </a:xfrm>
          <a:prstGeom prst="roundRect">
            <a:avLst>
              <a:gd name="adj" fmla="val 6316"/>
            </a:avLst>
          </a:prstGeom>
          <a:solidFill>
            <a:schemeClr val="accent3">
              <a:alpha val="12000"/>
            </a:schemeClr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480560"/>
            <a:ext cx="457200" cy="4572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08760" y="4343400"/>
            <a:ext cx="4251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많은 어르신들이 약봉투의 복약 정보를 이해하지 못해 잘못된 방법으로 약을 복용하고 있습니다.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6245352" y="4206240"/>
            <a:ext cx="539496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9672" y="4480560"/>
            <a:ext cx="457200" cy="4572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205472" y="4343400"/>
            <a:ext cx="4251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쉬운 말로 풀어 쓴 복약 안내로 어르신이 혼자서도 안심하고 약을 복용하도록 돕습니다.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통계로 보는 문제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2567178" cy="2926080"/>
          </a:xfrm>
          <a:prstGeom prst="roundRect">
            <a:avLst>
              <a:gd name="adj" fmla="val 4274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783080"/>
            <a:ext cx="201853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19.2%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651760"/>
            <a:ext cx="20185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65세 이상 인구 비율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337560"/>
            <a:ext cx="20185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2024년 기준 · 통계청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390138" y="1554480"/>
            <a:ext cx="2567178" cy="2926080"/>
          </a:xfrm>
          <a:prstGeom prst="roundRect">
            <a:avLst>
              <a:gd name="adj" fmla="val 4274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64458" y="1783080"/>
            <a:ext cx="201853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약 30%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664458" y="2651760"/>
            <a:ext cx="20185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노인 약물 부작용 입원 비율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664458" y="3337560"/>
            <a:ext cx="20185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전체 입원 대비 · 건강보험심사평가원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31636" y="1554480"/>
            <a:ext cx="2567178" cy="2926080"/>
          </a:xfrm>
          <a:prstGeom prst="roundRect">
            <a:avLst>
              <a:gd name="adj" fmla="val 4274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05956" y="1783080"/>
            <a:ext cx="201853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약 50%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6505956" y="2651760"/>
            <a:ext cx="20185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노인 복약 지시 미준수율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505956" y="3337560"/>
            <a:ext cx="20185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대한노인병학회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9073134" y="1554480"/>
            <a:ext cx="2567178" cy="2926080"/>
          </a:xfrm>
          <a:prstGeom prst="roundRect">
            <a:avLst>
              <a:gd name="adj" fmla="val 4274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347454" y="1783080"/>
            <a:ext cx="201853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약 40%</a:t>
            </a:r>
            <a:endParaRPr lang="en-US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9347454" y="2651760"/>
            <a:ext cx="20185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하루 5가지 이상 약 복용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9347454" y="3337560"/>
            <a:ext cx="20185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65세 이상 기준 · 국민건강보험공단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48640" y="4846320"/>
            <a:ext cx="11091672" cy="109728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48463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어르신의 복약 문제는 건강과 직결됩니다 — 쉬운 안내가 필요합니다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기존 서비스와의 비교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286000"/>
                <a:gridCol w="2286000"/>
                <a:gridCol w="3227832"/>
              </a:tblGrid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bg1"/>
                          </a:solidFill>
                        </a:rPr>
                        <a:t>기능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bg1"/>
                          </a:solidFill>
                        </a:rPr>
                        <a:t>아이약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bg1"/>
                          </a:solidFill>
                        </a:rPr>
                        <a:t>약학정보원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bg1"/>
                          </a:solidFill>
                        </a:rPr>
                        <a:t>medicine-guide-ai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약봉투 OCR 인식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지원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미지원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지원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AI 쉬운 말 안내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미지원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미지원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지원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약물 상호작용 분석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미지원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지원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지원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노인 친화적 UI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일부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미지원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지원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가족 공유 기능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미지원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미지원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지원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복용 기록 관리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지원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미지원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지원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해결 방안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567178" cy="3291840"/>
          </a:xfrm>
          <a:prstGeom prst="roundRect">
            <a:avLst>
              <a:gd name="adj" fmla="val 4274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96596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114550"/>
            <a:ext cx="297180" cy="2971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51760"/>
            <a:ext cx="20185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OCR 기술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200400"/>
            <a:ext cx="201853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약봉투 텍스트를 자동으로 인식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3390138" y="1737360"/>
            <a:ext cx="2567178" cy="3291840"/>
          </a:xfrm>
          <a:prstGeom prst="roundRect">
            <a:avLst>
              <a:gd name="adj" fmla="val 4274"/>
            </a:avLst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3664458" y="196596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3048" y="2114550"/>
            <a:ext cx="297180" cy="2971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64458" y="2651760"/>
            <a:ext cx="20185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GPT-4o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3664458" y="3200400"/>
            <a:ext cx="201853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어려운 의학 용어를 쉬운 말로 변환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6231636" y="1737360"/>
            <a:ext cx="2567178" cy="3291840"/>
          </a:xfrm>
          <a:prstGeom prst="roundRect">
            <a:avLst>
              <a:gd name="adj" fmla="val 4274"/>
            </a:avLst>
          </a:prstGeom>
          <a:solidFill>
            <a:schemeClr val="bg2"/>
          </a:solidFill>
          <a:ln/>
        </p:spPr>
      </p:sp>
      <p:sp>
        <p:nvSpPr>
          <p:cNvPr id="14" name="Shape 10"/>
          <p:cNvSpPr/>
          <p:nvPr/>
        </p:nvSpPr>
        <p:spPr>
          <a:xfrm>
            <a:off x="6505956" y="196596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4546" y="2114550"/>
            <a:ext cx="297180" cy="2971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505956" y="2651760"/>
            <a:ext cx="20185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노인 친화적 UI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6505956" y="3200400"/>
            <a:ext cx="201853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누구나 쉽게 사용할 수 있는 화면</a:t>
            </a:r>
            <a:endParaRPr lang="en-US" sz="1800" dirty="0"/>
          </a:p>
        </p:txBody>
      </p:sp>
      <p:sp>
        <p:nvSpPr>
          <p:cNvPr id="18" name="Shape 13"/>
          <p:cNvSpPr/>
          <p:nvPr/>
        </p:nvSpPr>
        <p:spPr>
          <a:xfrm>
            <a:off x="9073134" y="1737360"/>
            <a:ext cx="2567178" cy="3291840"/>
          </a:xfrm>
          <a:prstGeom prst="roundRect">
            <a:avLst>
              <a:gd name="adj" fmla="val 4274"/>
            </a:avLst>
          </a:prstGeom>
          <a:solidFill>
            <a:schemeClr val="bg2"/>
          </a:solidFill>
          <a:ln/>
        </p:spPr>
      </p:sp>
      <p:sp>
        <p:nvSpPr>
          <p:cNvPr id="19" name="Shape 14"/>
          <p:cNvSpPr/>
          <p:nvPr/>
        </p:nvSpPr>
        <p:spPr>
          <a:xfrm>
            <a:off x="9347454" y="196596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96044" y="2114550"/>
            <a:ext cx="297180" cy="29718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347454" y="2651760"/>
            <a:ext cx="20185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가족 공유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9347454" y="3200400"/>
            <a:ext cx="201853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보호자도 함께 복약을 관리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팀원 소개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514344" cy="4206240"/>
          </a:xfrm>
          <a:prstGeom prst="roundRect">
            <a:avLst>
              <a:gd name="adj" fmla="val 3122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78308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1931670"/>
            <a:ext cx="297180" cy="2971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468880"/>
            <a:ext cx="29657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최영진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017520"/>
            <a:ext cx="2965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백엔드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FastAPI 서버 · OCR 연동 · 약물 비교 알고리즘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4337304" y="1554480"/>
            <a:ext cx="3514344" cy="4206240"/>
          </a:xfrm>
          <a:prstGeom prst="roundRect">
            <a:avLst>
              <a:gd name="adj" fmla="val 3122"/>
            </a:avLst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4611624" y="178308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0214" y="1931670"/>
            <a:ext cx="297180" cy="2971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11624" y="2468880"/>
            <a:ext cx="29657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장보윤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11624" y="3017520"/>
            <a:ext cx="2965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프론트엔드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React UI · 노인 친화적 디자인 · 가족 공유 화면</a:t>
            </a:r>
            <a:endParaRPr lang="en-US" sz="1900" dirty="0"/>
          </a:p>
        </p:txBody>
      </p:sp>
      <p:sp>
        <p:nvSpPr>
          <p:cNvPr id="13" name="Shape 9"/>
          <p:cNvSpPr/>
          <p:nvPr/>
        </p:nvSpPr>
        <p:spPr>
          <a:xfrm>
            <a:off x="8125968" y="1554480"/>
            <a:ext cx="3514344" cy="4206240"/>
          </a:xfrm>
          <a:prstGeom prst="roundRect">
            <a:avLst>
              <a:gd name="adj" fmla="val 3122"/>
            </a:avLst>
          </a:prstGeom>
          <a:solidFill>
            <a:schemeClr val="bg2"/>
          </a:solidFill>
          <a:ln/>
        </p:spPr>
      </p:sp>
      <p:sp>
        <p:nvSpPr>
          <p:cNvPr id="14" name="Shape 10"/>
          <p:cNvSpPr/>
          <p:nvPr/>
        </p:nvSpPr>
        <p:spPr>
          <a:xfrm>
            <a:off x="8400288" y="178308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8878" y="1931670"/>
            <a:ext cx="297180" cy="2971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00288" y="2468880"/>
            <a:ext cx="29657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이채리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400288" y="3017520"/>
            <a:ext cx="2965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AI · 데이터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OpenAI API 연동 · 이미지 전처리 · 데이터 수집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팀원별 기여도</a:t>
            </a:r>
            <a:endParaRPr lang="en-US" sz="3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463040"/>
          <a:ext cx="566928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583680" y="1463040"/>
            <a:ext cx="5056632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858000" y="16459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최영진 · 40%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858000" y="210312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백엔드 전체 설계 · FastAPI 서버 · DB 설계 · 배포 · 팀 일정 관리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583680" y="2971800"/>
            <a:ext cx="5056632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858000" y="31546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장보윤 · 35%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6858000" y="361188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React UI 전체 · 반응형 디자인 · UX 설계 · 가족 공유 화면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583680" y="4480560"/>
            <a:ext cx="5056632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858000" y="46634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이채리 · 25%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6858000" y="512064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GPT 프롬프트 설계 · 응답 파싱 · 데이터 수집 · 단위 테스트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59436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모든 팀원이 코드 리뷰 · 버그 수정 · 문서 작성에 함께 참여했습니다.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기술 스택 — 백엔드 · 프론트엔드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백엔드</a:t>
            </a:r>
            <a:endParaRPr lang="en-US" sz="2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63093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5661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bg1"/>
                          </a:solidFill>
                        </a:rPr>
                        <a:t>기술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bg1"/>
                          </a:solidFill>
                        </a:rPr>
                        <a:t>용도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Python 3.11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메인 언어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FastAPI 0.104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REST API 서버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Tesseract OCR 5.3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약봉투 텍스트 인식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OpenCV 4.8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이미지 전처리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SQLite 3.0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복용 기록 저장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SQLAlchemy 2.0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ORM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132320" y="1371600"/>
            <a:ext cx="45079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프론트엔드</a:t>
            </a:r>
            <a:endParaRPr lang="en-US" sz="2000" dirty="0"/>
          </a:p>
        </p:txBody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0" y="1874520"/>
          <a:ext cx="450799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31343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bg1"/>
                          </a:solidFill>
                        </a:rPr>
                        <a:t>기술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bg1"/>
                          </a:solidFill>
                        </a:rPr>
                        <a:t>용도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React 18.0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UI 프레임워크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Axios 1.6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API 통신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React Router 6.0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페이지 라우팅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CSS Modules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스타일링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기술 스택 — AI · 인프라 · 전체 구성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08676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69164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1840230"/>
            <a:ext cx="297180" cy="2971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377440"/>
            <a:ext cx="48600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AI · 외부 API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926080"/>
            <a:ext cx="48600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OpenAI GPT-4o — 복약 안내 생성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Tesseract OCR 5.3 — 텍스트 추출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231636" y="1463040"/>
            <a:ext cx="5408676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6505956" y="169164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4546" y="1840230"/>
            <a:ext cx="297180" cy="2971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505956" y="2377440"/>
            <a:ext cx="48600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배포 · 인프라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505956" y="2926080"/>
            <a:ext cx="48600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Render — 백엔드 배포 · GitHub Actions — CI/CD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GitHub — 버전 관리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4251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전체 구성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548640" y="4754880"/>
            <a:ext cx="187452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640080" y="475488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React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프론트엔드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2423160" y="4754880"/>
            <a:ext cx="4297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→</a:t>
            </a:r>
            <a:endParaRPr lang="en-US" sz="2400" dirty="0"/>
          </a:p>
        </p:txBody>
      </p:sp>
      <p:sp>
        <p:nvSpPr>
          <p:cNvPr id="17" name="Shape 13"/>
          <p:cNvSpPr/>
          <p:nvPr/>
        </p:nvSpPr>
        <p:spPr>
          <a:xfrm>
            <a:off x="2852928" y="4754880"/>
            <a:ext cx="187452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2944368" y="475488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FastAPI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백엔드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4727448" y="4754880"/>
            <a:ext cx="4297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→</a:t>
            </a:r>
            <a:endParaRPr lang="en-US" sz="2400" dirty="0"/>
          </a:p>
        </p:txBody>
      </p:sp>
      <p:sp>
        <p:nvSpPr>
          <p:cNvPr id="20" name="Shape 16"/>
          <p:cNvSpPr/>
          <p:nvPr/>
        </p:nvSpPr>
        <p:spPr>
          <a:xfrm>
            <a:off x="5157216" y="4754880"/>
            <a:ext cx="187452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5248656" y="475488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Tesseract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OCR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7031736" y="4754880"/>
            <a:ext cx="4297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→</a:t>
            </a:r>
            <a:endParaRPr lang="en-US" sz="2400" dirty="0"/>
          </a:p>
        </p:txBody>
      </p:sp>
      <p:sp>
        <p:nvSpPr>
          <p:cNvPr id="23" name="Shape 19"/>
          <p:cNvSpPr/>
          <p:nvPr/>
        </p:nvSpPr>
        <p:spPr>
          <a:xfrm>
            <a:off x="7461504" y="4754880"/>
            <a:ext cx="187452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7552944" y="475488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OpenAI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GPT-4o</a:t>
            </a:r>
            <a:endParaRPr lang="en-US" sz="1500" dirty="0"/>
          </a:p>
        </p:txBody>
      </p:sp>
      <p:sp>
        <p:nvSpPr>
          <p:cNvPr id="25" name="Text 21"/>
          <p:cNvSpPr txBox="1"/>
          <p:nvPr/>
        </p:nvSpPr>
        <p:spPr>
          <a:xfrm>
            <a:off x="9336024" y="4754880"/>
            <a:ext cx="4297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→</a:t>
            </a:r>
            <a:endParaRPr lang="en-US" sz="2400" dirty="0"/>
          </a:p>
        </p:txBody>
      </p:sp>
      <p:sp>
        <p:nvSpPr>
          <p:cNvPr id="26" name="Shape 22"/>
          <p:cNvSpPr/>
          <p:nvPr/>
        </p:nvSpPr>
        <p:spPr>
          <a:xfrm>
            <a:off x="9765792" y="4754880"/>
            <a:ext cx="187452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9857232" y="475488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SQLite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DB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서비스 흐름도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1920240" cy="109728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사진 업로드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2468880" y="1554480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→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834640" y="1554480"/>
            <a:ext cx="1920240" cy="109728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926080" y="155448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이미지 전처리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(OpenCV)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754880" y="1554480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→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120640" y="1554480"/>
            <a:ext cx="1920240" cy="109728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212080" y="155448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텍스트 추출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(Tesseract)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040880" y="1554480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→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7406640" y="1554480"/>
            <a:ext cx="1920240" cy="109728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0" y="155448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GPT-4o 분석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쉬운 말로 변환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9326880" y="1554480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→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692640" y="1554480"/>
            <a:ext cx="1920240" cy="109728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784080" y="155448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복약 안내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결과 화면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269748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↓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7406640" y="269748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↓</a:t>
            </a:r>
            <a:endParaRPr lang="en-US" sz="28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0" y="269748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↓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5120640" y="3474720"/>
            <a:ext cx="1920240" cy="1188720"/>
          </a:xfrm>
          <a:prstGeom prst="roundRect">
            <a:avLst>
              <a:gd name="adj" fmla="val 9231"/>
            </a:avLst>
          </a:prstGeom>
          <a:solidFill>
            <a:schemeClr val="accent3">
              <a:alpha val="15000"/>
            </a:scheme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212080" y="347472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인식 실패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→ 재촬영 안내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7406640" y="3474720"/>
            <a:ext cx="1920240" cy="1188720"/>
          </a:xfrm>
          <a:prstGeom prst="roundRect">
            <a:avLst>
              <a:gd name="adj" fmla="val 9231"/>
            </a:avLst>
          </a:prstGeom>
          <a:solidFill>
            <a:schemeClr val="accent3">
              <a:alpha val="15000"/>
            </a:scheme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98080" y="347472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파싱 실패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→ 기본 안내 메시지 반환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9692640" y="3474720"/>
            <a:ext cx="192024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784080" y="347472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복용 기록 저장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가족 공유 · 메인 복귀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51206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인식에 실패하면 재촬영 안내 후 다시 업로드하고, 파싱에 실패해도 기본 안내로 결과 화면까지 이어집니다.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API 요청 흐름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1091672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540764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1463040"/>
            <a:ext cx="399300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사용자 → React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5593202" y="1463040"/>
            <a:ext cx="581851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약봉투 사진 업로드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212848"/>
            <a:ext cx="11091672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29057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212848"/>
            <a:ext cx="399300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React → FastAPI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5593202" y="2212848"/>
            <a:ext cx="581851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POST /api/ocr/upload 로 이미지 전송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2962656"/>
            <a:ext cx="11091672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304038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2962656"/>
            <a:ext cx="399300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FastAPI → Tesseract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5593202" y="2962656"/>
            <a:ext cx="581851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이미지 전처리 + 텍스트 추출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548640" y="3712464"/>
            <a:ext cx="11091672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77240" y="379018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3712464"/>
            <a:ext cx="399300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FastAPI → GPT-4o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5593202" y="3712464"/>
            <a:ext cx="581851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프롬프트 + 추출 텍스트 전송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548640" y="4462272"/>
            <a:ext cx="11091672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4539996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508760" y="4462272"/>
            <a:ext cx="399300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GPT-4o → React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5593202" y="4462272"/>
            <a:ext cx="581851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JSON 복약 안내를 받아 결과 화면에 표시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548640" y="5212080"/>
            <a:ext cx="11091672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77240" y="5289804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508760" y="5212080"/>
            <a:ext cx="399300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React → FastAPI → DB</a:t>
            </a:r>
            <a:endParaRPr lang="en-US" sz="1900" dirty="0"/>
          </a:p>
        </p:txBody>
      </p:sp>
      <p:sp>
        <p:nvSpPr>
          <p:cNvPr id="26" name="Text 24"/>
          <p:cNvSpPr txBox="1"/>
          <p:nvPr/>
        </p:nvSpPr>
        <p:spPr>
          <a:xfrm>
            <a:off x="5593202" y="5212080"/>
            <a:ext cx="581851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POST /api/record/save 로 복용 기록 저장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프로젝트 구조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08676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737360"/>
            <a:ext cx="48600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backend/ (FastAPI)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31720"/>
            <a:ext cx="48600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main.py · requirements.txt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routers — OCR · 약물 · 복용 기록 API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services — OCR · GPT · 약물 비교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models · utils(이미지 전처리, 응답 파싱)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231636" y="1463040"/>
            <a:ext cx="5408676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505956" y="1737360"/>
            <a:ext cx="48600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frontend/ (React)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505956" y="2331720"/>
            <a:ext cx="48600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pages — 메인 · 결과 · 기록 · 공유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components — MedicineCard · UploadButton · Header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styles — main.css · components.css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48640" y="3840480"/>
            <a:ext cx="5408676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4114800"/>
            <a:ext cx="48600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tests/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709160"/>
            <a:ext cx="48600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test_ocr.py · test_gpt.py · test_api.py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231636" y="3840480"/>
            <a:ext cx="5408676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05956" y="4114800"/>
            <a:ext cx="48600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docs/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505956" y="4709160"/>
            <a:ext cx="48600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api_spec.md · meeting_notes.md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주요 화면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514600" cy="429768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 w="25400">
            <a:solidFill>
              <a:srgbClr val="9CA3A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5087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메인 화면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2011680"/>
            <a:ext cx="2240280" cy="1188720"/>
          </a:xfrm>
          <a:prstGeom prst="roundRect">
            <a:avLst>
              <a:gd name="adj" fmla="val 9231"/>
            </a:avLst>
          </a:prstGeom>
          <a:solidFill>
            <a:schemeClr val="accent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01168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사진 업로드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85800" y="3310128"/>
            <a:ext cx="2240280" cy="548640"/>
          </a:xfrm>
          <a:prstGeom prst="roundRect">
            <a:avLst>
              <a:gd name="adj" fmla="val 20000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3310128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갤러리에서 선택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3968496"/>
            <a:ext cx="2240280" cy="548640"/>
          </a:xfrm>
          <a:prstGeom prst="roundRect">
            <a:avLst>
              <a:gd name="adj" fmla="val 20000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3968496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카메라로 촬영하기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8064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큰 글씨 · 고대비 UI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429000" y="1371600"/>
            <a:ext cx="2514600" cy="429768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 w="25400">
            <a:solidFill>
              <a:srgbClr val="9CA3A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66160" y="15087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결과 화면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566160" y="2011680"/>
            <a:ext cx="2240280" cy="457200"/>
          </a:xfrm>
          <a:prstGeom prst="roundRect">
            <a:avLst>
              <a:gd name="adj" fmla="val 24000"/>
            </a:avLst>
          </a:prstGeom>
          <a:solidFill>
            <a:schemeClr val="accent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657600" y="201168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타이레놀 500mg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566160" y="2578608"/>
            <a:ext cx="224028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657600" y="2578608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이 약은? 열이 나거나 머리가 아플 때 먹는 약이에요.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566160" y="3419856"/>
            <a:ext cx="224028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657600" y="3419856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어떻게 먹나요? 하루 3번, 식후 30분에 1알씩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566160" y="4261104"/>
            <a:ext cx="2240280" cy="640080"/>
          </a:xfrm>
          <a:prstGeom prst="roundRect">
            <a:avLst>
              <a:gd name="adj" fmla="val 17143"/>
            </a:avLst>
          </a:prstGeom>
          <a:solidFill>
            <a:schemeClr val="accent3">
              <a:alpha val="15000"/>
            </a:scheme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657600" y="4261104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주의하세요! 술과 함께 드시면 안돼요.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566160" y="5010912"/>
            <a:ext cx="2240280" cy="457200"/>
          </a:xfrm>
          <a:prstGeom prst="roundRect">
            <a:avLst>
              <a:gd name="adj" fmla="val 24000"/>
            </a:avLst>
          </a:prstGeom>
          <a:solidFill>
            <a:schemeClr val="accent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657600" y="5010912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가족에게 공유하기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3429000" y="58064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쉬운 말 안내 · 주의사항 강조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309360" y="1371600"/>
            <a:ext cx="2514600" cy="429768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 w="25400">
            <a:solidFill>
              <a:srgbClr val="9CA3A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46520" y="15087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복용 기록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446520" y="2011680"/>
            <a:ext cx="2240280" cy="502920"/>
          </a:xfrm>
          <a:prstGeom prst="roundRect">
            <a:avLst>
              <a:gd name="adj" fmla="val 21818"/>
            </a:avLst>
          </a:prstGeom>
          <a:solidFill>
            <a:schemeClr val="bg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537960" y="201168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완료  1월 20일 · 타이레놀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46520" y="2624328"/>
            <a:ext cx="2240280" cy="502920"/>
          </a:xfrm>
          <a:prstGeom prst="roundRect">
            <a:avLst>
              <a:gd name="adj" fmla="val 21818"/>
            </a:avLst>
          </a:prstGeom>
          <a:solidFill>
            <a:schemeClr val="bg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537960" y="262432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완료  1월 21일 · 타이레놀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446520" y="3236976"/>
            <a:ext cx="2240280" cy="502920"/>
          </a:xfrm>
          <a:prstGeom prst="roundRect">
            <a:avLst>
              <a:gd name="adj" fmla="val 21818"/>
            </a:avLst>
          </a:prstGeom>
          <a:solidFill>
            <a:schemeClr val="bg2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537960" y="3236976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미복용  1월 22일 · 타이레놀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446520" y="3849624"/>
            <a:ext cx="2240280" cy="502920"/>
          </a:xfrm>
          <a:prstGeom prst="roundRect">
            <a:avLst>
              <a:gd name="adj" fmla="val 21818"/>
            </a:avLst>
          </a:prstGeom>
          <a:solidFill>
            <a:schemeClr val="accent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37960" y="3849624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+ 기록 추가하기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309360" y="58064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날짜별 기록 · 월별 달력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9189720" y="1371600"/>
            <a:ext cx="2514600" cy="429768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 w="25400">
            <a:solidFill>
              <a:srgbClr val="9CA3A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326880" y="15087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가족에게 공유하기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9326880" y="2011680"/>
            <a:ext cx="2240280" cy="640080"/>
          </a:xfrm>
          <a:prstGeom prst="roundRect">
            <a:avLst>
              <a:gd name="adj" fmla="val 17143"/>
            </a:avLst>
          </a:prstGeom>
          <a:solidFill>
            <a:schemeClr val="accent4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9418320" y="201168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카카오톡으로 공유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9326880" y="2761488"/>
            <a:ext cx="2240280" cy="640080"/>
          </a:xfrm>
          <a:prstGeom prst="roundRect">
            <a:avLst>
              <a:gd name="adj" fmla="val 17143"/>
            </a:avLst>
          </a:prstGeom>
          <a:solidFill>
            <a:schemeClr val="accent4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418320" y="2761488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문자로 공유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9326880" y="3511296"/>
            <a:ext cx="2240280" cy="640080"/>
          </a:xfrm>
          <a:prstGeom prst="roundRect">
            <a:avLst>
              <a:gd name="adj" fmla="val 17143"/>
            </a:avLst>
          </a:prstGeom>
          <a:solidFill>
            <a:schemeClr val="accent4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9418320" y="3511296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링크 복사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9189720" y="58064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카카오톡 · 문자 · 링크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도전 1 — 약봉투 OCR 인식률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4389120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37160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구겨짐·빛 반사로 초기 인식률 약 52%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331720"/>
          <a:ext cx="43891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7607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인식률 35%p 향상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212080" y="1371600"/>
            <a:ext cx="6428232" cy="841248"/>
          </a:xfrm>
          <a:prstGeom prst="roundRect">
            <a:avLst>
              <a:gd name="adj" fmla="val 13043"/>
            </a:avLst>
          </a:prstGeom>
          <a:solidFill>
            <a:schemeClr val="bg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40680" y="1540764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172200" y="1371600"/>
            <a:ext cx="23141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그레이스케일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8577804" y="1371600"/>
            <a:ext cx="283390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이미지를 흑백으로 변환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5212080" y="2350008"/>
            <a:ext cx="6428232" cy="841248"/>
          </a:xfrm>
          <a:prstGeom prst="roundRect">
            <a:avLst>
              <a:gd name="adj" fmla="val 13043"/>
            </a:avLst>
          </a:prstGeom>
          <a:solidFill>
            <a:schemeClr val="bg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440680" y="251917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6172200" y="2350008"/>
            <a:ext cx="23141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노이즈 제거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8577804" y="2350008"/>
            <a:ext cx="283390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fastNlMeansDenoising 적용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5212080" y="3328416"/>
            <a:ext cx="6428232" cy="841248"/>
          </a:xfrm>
          <a:prstGeom prst="roundRect">
            <a:avLst>
              <a:gd name="adj" fmla="val 13043"/>
            </a:avLst>
          </a:prstGeom>
          <a:solidFill>
            <a:schemeClr val="bg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440680" y="349758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172200" y="3328416"/>
            <a:ext cx="23141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대비 향상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8577804" y="3328416"/>
            <a:ext cx="283390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CLAHE로 글자 대비 강화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5212080" y="4306824"/>
            <a:ext cx="6428232" cy="841248"/>
          </a:xfrm>
          <a:prstGeom prst="roundRect">
            <a:avLst>
              <a:gd name="adj" fmla="val 13043"/>
            </a:avLst>
          </a:prstGeom>
          <a:solidFill>
            <a:schemeClr val="bg2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440680" y="447598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172200" y="4306824"/>
            <a:ext cx="23141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이진화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8577804" y="4306824"/>
            <a:ext cx="283390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Otsu 방법으로 글자·배경 분리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5212080" y="5285232"/>
            <a:ext cx="6428232" cy="841248"/>
          </a:xfrm>
          <a:prstGeom prst="roundRect">
            <a:avLst>
              <a:gd name="adj" fmla="val 13043"/>
            </a:avLst>
          </a:prstGeom>
          <a:solidFill>
            <a:schemeClr val="bg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440680" y="5454396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6172200" y="5285232"/>
            <a:ext cx="23141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기울기 보정</a:t>
            </a:r>
            <a:endParaRPr lang="en-US" sz="1900" dirty="0"/>
          </a:p>
        </p:txBody>
      </p:sp>
      <p:sp>
        <p:nvSpPr>
          <p:cNvPr id="26" name="Text 23"/>
          <p:cNvSpPr txBox="1"/>
          <p:nvPr/>
        </p:nvSpPr>
        <p:spPr>
          <a:xfrm>
            <a:off x="8577804" y="5285232"/>
            <a:ext cx="283390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회전 각도를 계산해 반듯하게 보정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도전 2 — GPT 응답 형식 불일치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GPT가 항상 JSON으로 답하지 않아 파싱 오류가 자주 발생했습니다.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749808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24460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103120"/>
            <a:ext cx="269930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1차 · 직접 파싱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4299509" y="2103120"/>
            <a:ext cx="3518611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응답 전체를 JSON으로 바로 변환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48640" y="3429000"/>
            <a:ext cx="749808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37719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3429000"/>
            <a:ext cx="269930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2차 · JSON 블록 추출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4299509" y="3429000"/>
            <a:ext cx="3518611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정규식으로 JSON 부분만 뽑아 재시도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48640" y="4754880"/>
            <a:ext cx="749808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509778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4754880"/>
            <a:ext cx="269930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3차 · 기본값 반환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4299509" y="4754880"/>
            <a:ext cx="3518611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'인식 불가' + 약사·의사 문의 안내 문구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8321040" y="2103120"/>
            <a:ext cx="3319272" cy="3840480"/>
          </a:xfrm>
          <a:prstGeom prst="roundRect">
            <a:avLst>
              <a:gd name="adj" fmla="val 3306"/>
            </a:avLst>
          </a:prstGeom>
          <a:solidFill>
            <a:schemeClr val="bg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595360" y="2331720"/>
            <a:ext cx="2770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99.2%</a:t>
            </a:r>
            <a:endParaRPr lang="en-US" sz="4400" dirty="0"/>
          </a:p>
        </p:txBody>
      </p:sp>
      <p:sp>
        <p:nvSpPr>
          <p:cNvPr id="18" name="Text 16"/>
          <p:cNvSpPr txBox="1"/>
          <p:nvPr/>
        </p:nvSpPr>
        <p:spPr>
          <a:xfrm>
            <a:off x="8595360" y="3200400"/>
            <a:ext cx="2770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파싱 성공률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595360" y="3566160"/>
            <a:ext cx="277063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3단계 대응 후 결과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도전 3 — 노인 친화 UI 설계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9808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1463040"/>
            <a:ext cx="269930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큰 글씨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4299509" y="1463040"/>
            <a:ext cx="351861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본문 20px · 줄 간격 1.8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377440"/>
            <a:ext cx="749808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5146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377440"/>
            <a:ext cx="269930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큰 버튼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4299509" y="2377440"/>
            <a:ext cx="351861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높이 80px · 글씨 24px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291840"/>
            <a:ext cx="749808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34290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3291840"/>
            <a:ext cx="269930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고대비 색상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4299509" y="3291840"/>
            <a:ext cx="351861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파란 배경(#1a56db) + 흰 글씨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548640" y="4206240"/>
            <a:ext cx="749808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77240" y="43434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4206240"/>
            <a:ext cx="269930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충분한 여백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4299509" y="4206240"/>
            <a:ext cx="351861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카드 패딩 32px · 간격 24px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548640" y="5120640"/>
            <a:ext cx="749808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52578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508760" y="5120640"/>
            <a:ext cx="269930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명확한 아이콘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4299509" y="5120640"/>
            <a:ext cx="351861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32px 크기 아이콘 사용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8321040" y="1463040"/>
            <a:ext cx="3319272" cy="4434840"/>
          </a:xfrm>
          <a:prstGeom prst="roundRect">
            <a:avLst>
              <a:gd name="adj" fmla="val 3306"/>
            </a:avLst>
          </a:prstGeom>
          <a:solidFill>
            <a:schemeClr val="bg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595360" y="1691640"/>
            <a:ext cx="2770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92%</a:t>
            </a:r>
            <a:endParaRPr lang="en-US" sz="4400" dirty="0"/>
          </a:p>
        </p:txBody>
      </p:sp>
      <p:sp>
        <p:nvSpPr>
          <p:cNvPr id="25" name="Text 23"/>
          <p:cNvSpPr txBox="1"/>
          <p:nvPr/>
        </p:nvSpPr>
        <p:spPr>
          <a:xfrm>
            <a:off x="8595360" y="2560320"/>
            <a:ext cx="2770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사용자 만족도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8595360" y="2926080"/>
            <a:ext cx="2770632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60대 이상 테스트 사용자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API 명세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Base URL  http://localhost:8000/api   |   배포  https://medicine-guide-ai.onrender.com/api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응답 형식 JSON   |   인증 없음 (추후 JWT 적용 예정)</a:t>
            </a:r>
            <a:endParaRPr lang="en-US" sz="1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94560"/>
          <a:ext cx="1109167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840480"/>
                <a:gridCol w="5605272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Method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Endpoint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설명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POST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/api/ocr/upload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약봉투 이미지 업로드 → 복약 안내 반환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POST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/api/record/save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복용 기록 저장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GET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/api/record/list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기간별 복용 기록 조회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DELETE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/api/record/{id}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복용 기록 삭제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GET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/api/health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서버 상태 확인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8521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오류 응답: 400 OCR_FAILED (텍스트 인식 실패) · 500 SERVER_ERROR (서버 오류)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테스트와 트러블슈팅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66160" cy="4389120"/>
          </a:xfrm>
          <a:prstGeom prst="roundRect">
            <a:avLst>
              <a:gd name="adj" fmla="val 3077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73736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2"/>
                </a:solidFill>
              </a:rPr>
              <a:t>13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0175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tests passed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65760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OCR 4 · GPT 3 · API 6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pytest tests/ --cov=.</a:t>
            </a:r>
            <a:endParaRPr lang="en-US" sz="15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89120" y="1463040"/>
          <a:ext cx="725119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4416552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문제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해결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Tesseract 경로 오류 (Windows)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코드 또는 .env에 실행 파일 경로 직접 지정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CORS 오류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CORSMiddleware로 프론트 주소 허용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이미지 용량 초과 (413)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업로드 10MB 제한 + 안내 메시지 반환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OpenAI Rate Limit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tenacity 지수 백오프로 최대 3회 재시도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SQLite database is locked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check_same_thread=False · timeout 20초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개발 타임라인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58368" y="1755648"/>
            <a:ext cx="8887968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4224528"/>
            <a:ext cx="8887968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645920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20574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10.05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51460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프로젝트 시작 · 주제 선정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770632" y="1645920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770632" y="20574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10.06–07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2770632" y="251460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기획 · 역할 분담 · 환경 세팅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992624" y="1645920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992624" y="20574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10.08–10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992624" y="251460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OCR 구현 · 인식률 52%→87%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214616" y="1645920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214616" y="20574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10.12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7214616" y="251460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GPT-4o 연동 · 프롬프트 설계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9436608" y="1645920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436608" y="20574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10.14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9436608" y="251460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FastAPI 서버 · DB 설계 완료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48640" y="4114800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45262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10.16–17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98348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React 1차 구현 · 노인 친화 UI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2770632" y="4114800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2770632" y="45262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10.19–21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2770632" y="498348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FE·BE 연동 · 통합 테스트 · 공유/기록 기능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4992624" y="4114800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992624" y="45262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10.22–23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4992624" y="498348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사용자 테스트(60대 5명) · 피드백 반영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7214616" y="4114800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214616" y="45262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10.24–25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7214616" y="498348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최종 배포 · README · 발표 준비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9436608" y="4114800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9436608" y="45262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10.26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9436608" y="498348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최종 제출 · 완료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프로젝트 성과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14344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2965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</a:rPr>
              <a:t>87%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560320"/>
            <a:ext cx="2965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OCR 인식 정확도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26080"/>
            <a:ext cx="29657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전처리로 52% → 87%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37304" y="1463040"/>
            <a:ext cx="3514344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611624" y="1691640"/>
            <a:ext cx="2965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</a:rPr>
              <a:t>92%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4611624" y="2560320"/>
            <a:ext cx="2965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AI 응답 긍정 평가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4611624" y="2926080"/>
            <a:ext cx="29657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테스트 사용자 기준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25968" y="1463040"/>
            <a:ext cx="3514344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400288" y="1691640"/>
            <a:ext cx="2965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</a:rPr>
              <a:t>3.2초</a:t>
            </a:r>
            <a:endParaRPr lang="en-US" sz="3800" dirty="0"/>
          </a:p>
        </p:txBody>
      </p:sp>
      <p:sp>
        <p:nvSpPr>
          <p:cNvPr id="13" name="Text 11"/>
          <p:cNvSpPr txBox="1"/>
          <p:nvPr/>
        </p:nvSpPr>
        <p:spPr>
          <a:xfrm>
            <a:off x="8400288" y="2560320"/>
            <a:ext cx="2965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평균 응답 시간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548640" y="3931920"/>
            <a:ext cx="3514344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4160520"/>
            <a:ext cx="2965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</a:rPr>
              <a:t>127회</a:t>
            </a:r>
            <a:endParaRPr lang="en-US" sz="38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029200"/>
            <a:ext cx="2965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총 커밋 수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4337304" y="3931920"/>
            <a:ext cx="3514344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611624" y="4160520"/>
            <a:ext cx="2965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</a:rPr>
              <a:t>약 4,200줄</a:t>
            </a:r>
            <a:endParaRPr lang="en-US" sz="3800" dirty="0"/>
          </a:p>
        </p:txBody>
      </p:sp>
      <p:sp>
        <p:nvSpPr>
          <p:cNvPr id="19" name="Text 17"/>
          <p:cNvSpPr txBox="1"/>
          <p:nvPr/>
        </p:nvSpPr>
        <p:spPr>
          <a:xfrm>
            <a:off x="4611624" y="5029200"/>
            <a:ext cx="2965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총 코드 라인 수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8125968" y="3931920"/>
            <a:ext cx="3514344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400288" y="4160520"/>
            <a:ext cx="2965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</a:rPr>
              <a:t>3종</a:t>
            </a:r>
            <a:endParaRPr lang="en-US" sz="3800" dirty="0"/>
          </a:p>
        </p:txBody>
      </p:sp>
      <p:sp>
        <p:nvSpPr>
          <p:cNvPr id="22" name="Text 20"/>
          <p:cNvSpPr txBox="1"/>
          <p:nvPr/>
        </p:nvSpPr>
        <p:spPr>
          <a:xfrm>
            <a:off x="8400288" y="5029200"/>
            <a:ext cx="2965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지원 약봉투 형태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8400288" y="5394960"/>
            <a:ext cx="29657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병원 처방 · 약국 · 일반 의약품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현재 한계점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1091672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1463040"/>
            <a:ext cx="399300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손글씨 약봉투 인식 불가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5593202" y="1463040"/>
            <a:ext cx="581851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원인: Tesseract OCR 한계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377440"/>
            <a:ext cx="11091672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51460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377440"/>
            <a:ext cx="399300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영어 약품명 인식률 낮음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5593202" y="2377440"/>
            <a:ext cx="581851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원인: 한국어 학습 데이터 부족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291840"/>
            <a:ext cx="11091672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342900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3291840"/>
            <a:ext cx="399300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오프라인 환경 사용 불가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5593202" y="3291840"/>
            <a:ext cx="581851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원인: GPT API는 인터넷 연결 필요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548640" y="4206240"/>
            <a:ext cx="11091672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77240" y="434340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4206240"/>
            <a:ext cx="399300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약물 상호작용 정보 부족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5593202" y="4206240"/>
            <a:ext cx="581851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원인: 공공 DB 연동 미완성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548640" y="5120640"/>
            <a:ext cx="11091672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525780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508760" y="5120640"/>
            <a:ext cx="399300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iOS 카메라 연동 미지원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5593202" y="5120640"/>
            <a:ext cx="581851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원인: 웹 환경의 제한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개선 방향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14344" cy="4480560"/>
          </a:xfrm>
          <a:prstGeom prst="roundRect">
            <a:avLst>
              <a:gd name="adj" fmla="val 3122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737360"/>
            <a:ext cx="29657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단기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31720"/>
            <a:ext cx="2965704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영어 약품명 인식 향상 (영문 언어팩 추가)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약물 상호작용 경고 (식약처 공공 API 연동)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오프라인 모드 (자주 쓰는 약 로컬 캐싱)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337304" y="1463040"/>
            <a:ext cx="3514344" cy="4480560"/>
          </a:xfrm>
          <a:prstGeom prst="roundRect">
            <a:avLst>
              <a:gd name="adj" fmla="val 3122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611624" y="1737360"/>
            <a:ext cx="29657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중기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611624" y="2331720"/>
            <a:ext cx="2965704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자체 OCR 모델 개발 (전용 데이터셋 · Fine-tuning)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모바일 앱 출시 (React Native)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음성 안내 기능 (TTS)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125968" y="1463040"/>
            <a:ext cx="3514344" cy="4480560"/>
          </a:xfrm>
          <a:prstGeom prst="roundRect">
            <a:avLst>
              <a:gd name="adj" fmla="val 3122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400288" y="1737360"/>
            <a:ext cx="29657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장기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400288" y="2331720"/>
            <a:ext cx="2965704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병원 · 약국 연동 (처방전 자동 연동)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AI 복약 패턴 분석 · 맞춤 안내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보호자 모니터링 (미복용 알림)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앞으로의 계획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998878" cy="3017520"/>
          </a:xfrm>
          <a:prstGeom prst="roundRect">
            <a:avLst>
              <a:gd name="adj" fmla="val 5489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737360"/>
            <a:ext cx="14502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v1.1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31720"/>
            <a:ext cx="145023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음성 안내 기능 추가 (TTS)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2026.11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821838" y="1463040"/>
            <a:ext cx="1998878" cy="3017520"/>
          </a:xfrm>
          <a:prstGeom prst="roundRect">
            <a:avLst>
              <a:gd name="adj" fmla="val 5489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096158" y="1737360"/>
            <a:ext cx="14502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v1.2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3096158" y="2331720"/>
            <a:ext cx="145023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카카오톡 공유 연동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2026.12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095037" y="1463040"/>
            <a:ext cx="1998878" cy="3017520"/>
          </a:xfrm>
          <a:prstGeom prst="roundRect">
            <a:avLst>
              <a:gd name="adj" fmla="val 5489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69357" y="1737360"/>
            <a:ext cx="14502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v2.0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5369357" y="2331720"/>
            <a:ext cx="145023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모바일 앱 출시 (React Native)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2027.01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368235" y="1463040"/>
            <a:ext cx="1998878" cy="3017520"/>
          </a:xfrm>
          <a:prstGeom prst="roundRect">
            <a:avLst>
              <a:gd name="adj" fmla="val 5489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642555" y="1737360"/>
            <a:ext cx="14502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v2.1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7642555" y="2331720"/>
            <a:ext cx="145023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병원 처방전 연동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2027.02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641434" y="1463040"/>
            <a:ext cx="1998878" cy="3017520"/>
          </a:xfrm>
          <a:prstGeom prst="roundRect">
            <a:avLst>
              <a:gd name="adj" fmla="val 5489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915754" y="1737360"/>
            <a:ext cx="14502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v3.0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9915754" y="2331720"/>
            <a:ext cx="145023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다국어 지원 (영어 · 중국어 · 일본어)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2027.03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5029200"/>
            <a:ext cx="11091672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2960" y="5029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오픈소스로 운영됩니다 — 버그 제보 · 기능 제안 · 코드 기여를 환영합니다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팀원 회고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11296" cy="4754880"/>
          </a:xfrm>
          <a:prstGeom prst="roundRect">
            <a:avLst>
              <a:gd name="adj" fmla="val 3125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5087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최영진 (백엔드)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011680"/>
            <a:ext cx="30632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처음 FastAPI를 써봤는데 생각보다 훨씬 빠르고 편했습니다.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배운 점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FastAPI 서버 설계 · 배포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OpenCV 이미지 전처리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팀 리더십과 일정 관리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아쉬운 점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테스트 코드를 더 꼼꼼히 쓰지 못함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CI/CD를 더 일찍 적용하지 못함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338828" y="1371600"/>
            <a:ext cx="3511296" cy="4754880"/>
          </a:xfrm>
          <a:prstGeom prst="roundRect">
            <a:avLst>
              <a:gd name="adj" fmla="val 3125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67428" y="15087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장보윤 (프론트엔드)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4567428" y="2011680"/>
            <a:ext cx="30632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노인 친화 UI를 설계하면서 사용자 중심 개발의 중요성을 깨달았습니다.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배운 점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사용자 중심(UX) 설계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React 컴포넌트 구조 설계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반응형 웹 디자인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아쉬운 점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애니메이션을 더 다듬지 못함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모바일 앱까지 개발하지 못함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129016" y="1371600"/>
            <a:ext cx="3511296" cy="4754880"/>
          </a:xfrm>
          <a:prstGeom prst="roundRect">
            <a:avLst>
              <a:gd name="adj" fmla="val 3125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357616" y="15087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이채리 (AI · 데이터)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8357616" y="2011680"/>
            <a:ext cx="30632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프롬프트 엔지니어링이 이렇게 중요한 기술인지 처음 알았습니다.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배운 점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프롬프트 엔지니어링 기법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OpenAI API 활용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데이터 전처리 · 정제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아쉬운 점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약물 상호작용 데이터를 더 수집하지 못함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자체 AI 모델을 학습시키지 못함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팀 전체 회고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14344" cy="4480560"/>
          </a:xfrm>
          <a:prstGeom prst="roundRect">
            <a:avLst>
              <a:gd name="adj" fmla="val 3122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69164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1840230"/>
            <a:ext cx="297180" cy="2971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377440"/>
            <a:ext cx="29657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잘한 점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926080"/>
            <a:ext cx="2965704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매주 정기 회의로 소통 유지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GitHub으로 체계적인 버전 관리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명확한 역할 분담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실제 어르신 사용자 테스트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4337304" y="1463040"/>
            <a:ext cx="3514344" cy="4480560"/>
          </a:xfrm>
          <a:prstGeom prst="roundRect">
            <a:avLst>
              <a:gd name="adj" fmla="val 3122"/>
            </a:avLst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4611624" y="169164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0214" y="1840230"/>
            <a:ext cx="297180" cy="2971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11624" y="2377440"/>
            <a:ext cx="29657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아쉬운 점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11624" y="2926080"/>
            <a:ext cx="2965704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초반 기획이 너무 자주 바뀜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테스트 코드 작성이 후반부에 몰림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문서화를 처음부터 하지 못함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8125968" y="1463040"/>
            <a:ext cx="3514344" cy="4480560"/>
          </a:xfrm>
          <a:prstGeom prst="roundRect">
            <a:avLst>
              <a:gd name="adj" fmla="val 3122"/>
            </a:avLst>
          </a:prstGeom>
          <a:solidFill>
            <a:schemeClr val="bg2"/>
          </a:solidFill>
          <a:ln/>
        </p:spPr>
      </p:sp>
      <p:sp>
        <p:nvSpPr>
          <p:cNvPr id="14" name="Shape 10"/>
          <p:cNvSpPr/>
          <p:nvPr/>
        </p:nvSpPr>
        <p:spPr>
          <a:xfrm>
            <a:off x="8400288" y="169164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8878" y="1840230"/>
            <a:ext cx="297180" cy="2971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00288" y="2377440"/>
            <a:ext cx="29657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다음에는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400288" y="2926080"/>
            <a:ext cx="2965704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기획 단계를 더 꼼꼼히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TDD(테스트 주도 개발) 적용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배포 자동화를 처음부터 적용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주의사항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14344" cy="4480560"/>
          </a:xfrm>
          <a:prstGeom prst="roundRect">
            <a:avLst>
              <a:gd name="adj" fmla="val 3122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69164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1840230"/>
            <a:ext cx="297180" cy="2971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377440"/>
            <a:ext cx="29657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의료 면책 조항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926080"/>
            <a:ext cx="2965704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진단·처방의 대체로 사용 금지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복용 결정은 의사·약사와 상담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AI 정보는 오류가 있을 수 있음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응급 상황 시 즉시 119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4337304" y="1463040"/>
            <a:ext cx="3514344" cy="4480560"/>
          </a:xfrm>
          <a:prstGeom prst="roundRect">
            <a:avLst>
              <a:gd name="adj" fmla="val 3122"/>
            </a:avLst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4611624" y="169164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0214" y="1840230"/>
            <a:ext cx="297180" cy="2971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11624" y="2377440"/>
            <a:ext cx="29657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개인정보 보호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11624" y="2926080"/>
            <a:ext cx="2965704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약봉투 이미지는 서버에 저장되지 않음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OCR 처리 후 즉시 삭제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복용 기록은 사용자 기기에만 저장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개인 의료 정보 외부 공유 금지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8125968" y="1463040"/>
            <a:ext cx="3514344" cy="4480560"/>
          </a:xfrm>
          <a:prstGeom prst="roundRect">
            <a:avLst>
              <a:gd name="adj" fmla="val 3122"/>
            </a:avLst>
          </a:prstGeom>
          <a:solidFill>
            <a:schemeClr val="bg2"/>
          </a:solidFill>
          <a:ln/>
        </p:spPr>
      </p:sp>
      <p:sp>
        <p:nvSpPr>
          <p:cNvPr id="14" name="Shape 10"/>
          <p:cNvSpPr/>
          <p:nvPr/>
        </p:nvSpPr>
        <p:spPr>
          <a:xfrm>
            <a:off x="8400288" y="169164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8878" y="1840230"/>
            <a:ext cx="297180" cy="2971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00288" y="2377440"/>
            <a:ext cx="29657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API Key 보안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400288" y="2926080"/>
            <a:ext cx="2965704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코드에 키를 직접 입력하지 않기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.env 파일에 저장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.gitignore에 .env 추가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1463040"/>
            <a:ext cx="3566160" cy="35661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98280" y="2606040"/>
            <a:ext cx="1280160" cy="12801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37160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감사합니다</a:t>
            </a:r>
            <a:endParaRPr lang="en-US" sz="5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468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기술로 건강을, AI로 안심을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20040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어르신과 가족 모두가 안심하고 약을 복용할 수 있는 세상을 꿈꿉니다.</a:t>
            </a:r>
            <a:endParaRPr lang="en-US" sz="18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26280"/>
            <a:ext cx="320040" cy="3200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452628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github.com/17lucky71/medicine-guide-ai</a:t>
            </a:r>
            <a:endParaRPr lang="en-US" sz="16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5029200"/>
            <a:ext cx="320040" cy="3200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34440" y="502920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medicine.guide.ai@gmail.com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731520" y="57607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최영진 · 장보윤 · 이채리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dGuide">
  <a:themeElements>
    <a:clrScheme name="MedGuide">
      <a:dk1>
        <a:srgbClr val="1F2933"/>
      </a:dk1>
      <a:lt1>
        <a:srgbClr val="FFFFFF"/>
      </a:lt1>
      <a:dk2>
        <a:srgbClr val="0B4F5C"/>
      </a:dk2>
      <a:lt2>
        <a:srgbClr val="E8F4F2"/>
      </a:lt2>
      <a:accent1>
        <a:srgbClr val="0F766E"/>
      </a:accent1>
      <a:accent2>
        <a:srgbClr val="F59E0B"/>
      </a:accent2>
      <a:accent3>
        <a:srgbClr val="DC4A38"/>
      </a:accent3>
      <a:accent4>
        <a:srgbClr val="2563EB"/>
      </a:accent4>
      <a:accent5>
        <a:srgbClr val="6B7280"/>
      </a:accent5>
      <a:accent6>
        <a:srgbClr val="16A34A"/>
      </a:accent6>
      <a:hlink>
        <a:srgbClr val="2563EB"/>
      </a:hlink>
      <a:folHlink>
        <a:srgbClr val="6B7280"/>
      </a:folHlink>
    </a:clrScheme>
    <a:fontScheme name="MedGuid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medicine-guide-ai</dc:title>
  <dc:subject>PptxGenJS Presentation</dc:subject>
  <dc:creator>최영진 · 장보윤 · 이채리</dc:creator>
  <cp:lastModifiedBy>최영진 · 장보윤 · 이채리</cp:lastModifiedBy>
  <cp:revision>1</cp:revision>
  <dcterms:created xsi:type="dcterms:W3CDTF">2026-10-17T13:43:41Z</dcterms:created>
  <dcterms:modified xsi:type="dcterms:W3CDTF">2026-10-17T13:43:41Z</dcterms:modified>
</cp:coreProperties>
</file>